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0E8F84"/>
                </a:solidFill>
                <a:latin typeface="Malgun Gothic"/>
                <a:ea typeface="Malgun Gothic"/>
              </a:rPr>
              <a:t>PROJECT BOARD  ·  STATUS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1E2761"/>
                </a:solidFill>
                <a:latin typeface="Malgun Gothic"/>
                <a:ea typeface="Malgun Gothic"/>
              </a:rPr>
              <a:t>전체 항목 진행 현황 Map  (35항목)</a:t>
            </a:r>
          </a:p>
        </p:txBody>
      </p:sp>
      <p:sp>
        <p:nvSpPr>
          <p:cNvPr id="4" name="Chevron 3"/>
          <p:cNvSpPr/>
          <p:nvPr/>
        </p:nvSpPr>
        <p:spPr>
          <a:xfrm>
            <a:off x="475488" y="1261872"/>
            <a:ext cx="1691640" cy="292608"/>
          </a:xfrm>
          <a:prstGeom prst="chevron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12648" y="1261872"/>
            <a:ext cx="15544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</a:rPr>
              <a:t>Phase 0</a:t>
            </a:r>
          </a:p>
        </p:txBody>
      </p:sp>
      <p:sp>
        <p:nvSpPr>
          <p:cNvPr id="6" name="Chevron 5"/>
          <p:cNvSpPr/>
          <p:nvPr/>
        </p:nvSpPr>
        <p:spPr>
          <a:xfrm>
            <a:off x="2212848" y="1261872"/>
            <a:ext cx="2560320" cy="292608"/>
          </a:xfrm>
          <a:prstGeom prst="chevron">
            <a:avLst/>
          </a:prstGeom>
          <a:solidFill>
            <a:srgbClr val="3D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350008" y="1261872"/>
            <a:ext cx="24231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</a:rPr>
              <a:t>Phase 1</a:t>
            </a:r>
          </a:p>
        </p:txBody>
      </p:sp>
      <p:sp>
        <p:nvSpPr>
          <p:cNvPr id="8" name="Chevron 7"/>
          <p:cNvSpPr/>
          <p:nvPr/>
        </p:nvSpPr>
        <p:spPr>
          <a:xfrm>
            <a:off x="4818888" y="1261872"/>
            <a:ext cx="3429000" cy="292608"/>
          </a:xfrm>
          <a:prstGeom prst="chevron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956048" y="1261872"/>
            <a:ext cx="329184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</a:rPr>
              <a:t>Phase 2</a:t>
            </a:r>
          </a:p>
        </p:txBody>
      </p:sp>
      <p:sp>
        <p:nvSpPr>
          <p:cNvPr id="10" name="Chevron 9"/>
          <p:cNvSpPr/>
          <p:nvPr/>
        </p:nvSpPr>
        <p:spPr>
          <a:xfrm>
            <a:off x="8293608" y="1261872"/>
            <a:ext cx="3429000" cy="292608"/>
          </a:xfrm>
          <a:prstGeom prst="chevron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30768" y="1261872"/>
            <a:ext cx="329184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</a:rPr>
              <a:t>Phase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609344"/>
            <a:ext cx="822960" cy="475488"/>
          </a:xfrm>
          <a:prstGeom prst="rect">
            <a:avLst/>
          </a:prstGeom>
          <a:solidFill>
            <a:srgbClr val="E9E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12064" y="1609344"/>
            <a:ext cx="749808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1E2761"/>
                </a:solidFill>
                <a:latin typeface="Malgun Gothic"/>
                <a:ea typeface="Malgun Gothic"/>
              </a:rPr>
              <a:t>0.1</a:t>
            </a:r>
          </a:p>
          <a:p>
            <a:pPr algn="ctr"/>
            <a:r>
              <a:rPr sz="700" b="0">
                <a:solidFill>
                  <a:srgbClr val="5B6472"/>
                </a:solidFill>
                <a:latin typeface="Malgun Gothic"/>
                <a:ea typeface="Malgun Gothic"/>
              </a:rPr>
              <a:t>DSEP 환경·자원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44168" y="1609344"/>
            <a:ext cx="822960" cy="475488"/>
          </a:xfrm>
          <a:prstGeom prst="rect">
            <a:avLst/>
          </a:prstGeom>
          <a:solidFill>
            <a:srgbClr val="E9E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380744" y="1609344"/>
            <a:ext cx="749808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1E2761"/>
                </a:solidFill>
                <a:latin typeface="Malgun Gothic"/>
                <a:ea typeface="Malgun Gothic"/>
              </a:rPr>
              <a:t>0.2</a:t>
            </a:r>
          </a:p>
          <a:p>
            <a:pPr algn="ctr"/>
            <a:r>
              <a:rPr sz="700" b="0">
                <a:solidFill>
                  <a:srgbClr val="5B6472"/>
                </a:solidFill>
                <a:latin typeface="Malgun Gothic"/>
                <a:ea typeface="Malgun Gothic"/>
              </a:rPr>
              <a:t>사내 I/O 연결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12848" y="1609344"/>
            <a:ext cx="822960" cy="475488"/>
          </a:xfrm>
          <a:prstGeom prst="rect">
            <a:avLst/>
          </a:prstGeom>
          <a:solidFill>
            <a:srgbClr val="E3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249424" y="1609344"/>
            <a:ext cx="749808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1E2761"/>
                </a:solidFill>
                <a:latin typeface="Malgun Gothic"/>
                <a:ea typeface="Malgun Gothic"/>
              </a:rPr>
              <a:t>1.1</a:t>
            </a:r>
          </a:p>
          <a:p>
            <a:pPr algn="ctr"/>
            <a:r>
              <a:rPr sz="700" b="0">
                <a:solidFill>
                  <a:srgbClr val="5B6472"/>
                </a:solidFill>
                <a:latin typeface="Malgun Gothic"/>
                <a:ea typeface="Malgun Gothic"/>
              </a:rPr>
              <a:t>Use Case·범위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81528" y="1609344"/>
            <a:ext cx="822960" cy="475488"/>
          </a:xfrm>
          <a:prstGeom prst="rect">
            <a:avLst/>
          </a:prstGeom>
          <a:solidFill>
            <a:srgbClr val="E3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18104" y="1609344"/>
            <a:ext cx="749808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1E2761"/>
                </a:solidFill>
                <a:latin typeface="Malgun Gothic"/>
                <a:ea typeface="Malgun Gothic"/>
              </a:rPr>
              <a:t>1.2</a:t>
            </a:r>
          </a:p>
          <a:p>
            <a:pPr algn="ctr"/>
            <a:r>
              <a:rPr sz="700" b="0">
                <a:solidFill>
                  <a:srgbClr val="5B6472"/>
                </a:solidFill>
                <a:latin typeface="Malgun Gothic"/>
                <a:ea typeface="Malgun Gothic"/>
              </a:rPr>
              <a:t>협업·R&amp;R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50208" y="1609344"/>
            <a:ext cx="822960" cy="475488"/>
          </a:xfrm>
          <a:prstGeom prst="rect">
            <a:avLst/>
          </a:prstGeom>
          <a:solidFill>
            <a:srgbClr val="E3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986784" y="1609344"/>
            <a:ext cx="749808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1E2761"/>
                </a:solidFill>
                <a:latin typeface="Malgun Gothic"/>
                <a:ea typeface="Malgun Gothic"/>
              </a:rPr>
              <a:t>1.3</a:t>
            </a:r>
          </a:p>
          <a:p>
            <a:pPr algn="ctr"/>
            <a:r>
              <a:rPr sz="700" b="0">
                <a:solidFill>
                  <a:srgbClr val="5B6472"/>
                </a:solidFill>
                <a:latin typeface="Malgun Gothic"/>
                <a:ea typeface="Malgun Gothic"/>
              </a:rPr>
              <a:t>계획·데이터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18888" y="1609344"/>
            <a:ext cx="822960" cy="475488"/>
          </a:xfrm>
          <a:prstGeom prst="rect">
            <a:avLst/>
          </a:prstGeom>
          <a:solidFill>
            <a:srgbClr val="DB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855464" y="1609344"/>
            <a:ext cx="749808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1E2761"/>
                </a:solidFill>
                <a:latin typeface="Malgun Gothic"/>
                <a:ea typeface="Malgun Gothic"/>
              </a:rPr>
              <a:t>2.1</a:t>
            </a:r>
          </a:p>
          <a:p>
            <a:pPr algn="ctr"/>
            <a:r>
              <a:rPr sz="700" b="0">
                <a:solidFill>
                  <a:srgbClr val="5B6472"/>
                </a:solidFill>
                <a:latin typeface="Malgun Gothic"/>
                <a:ea typeface="Malgun Gothic"/>
              </a:rPr>
              <a:t>개발 계획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87568" y="1609344"/>
            <a:ext cx="822960" cy="475488"/>
          </a:xfrm>
          <a:prstGeom prst="rect">
            <a:avLst/>
          </a:prstGeom>
          <a:solidFill>
            <a:srgbClr val="DB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724144" y="1609344"/>
            <a:ext cx="749808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1E2761"/>
                </a:solidFill>
                <a:latin typeface="Malgun Gothic"/>
                <a:ea typeface="Malgun Gothic"/>
              </a:rPr>
              <a:t>2.2</a:t>
            </a:r>
          </a:p>
          <a:p>
            <a:pPr algn="ctr"/>
            <a:r>
              <a:rPr sz="700" b="0">
                <a:solidFill>
                  <a:srgbClr val="5B6472"/>
                </a:solidFill>
                <a:latin typeface="Malgun Gothic"/>
                <a:ea typeface="Malgun Gothic"/>
              </a:rPr>
              <a:t>데이터·인프라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6248" y="1609344"/>
            <a:ext cx="822960" cy="475488"/>
          </a:xfrm>
          <a:prstGeom prst="rect">
            <a:avLst/>
          </a:prstGeom>
          <a:solidFill>
            <a:srgbClr val="DB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92824" y="1609344"/>
            <a:ext cx="749808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1E2761"/>
                </a:solidFill>
                <a:latin typeface="Malgun Gothic"/>
                <a:ea typeface="Malgun Gothic"/>
              </a:rPr>
              <a:t>2.3</a:t>
            </a:r>
          </a:p>
          <a:p>
            <a:pPr algn="ctr"/>
            <a:r>
              <a:rPr sz="700" b="0">
                <a:solidFill>
                  <a:srgbClr val="5B6472"/>
                </a:solidFill>
                <a:latin typeface="Malgun Gothic"/>
                <a:ea typeface="Malgun Gothic"/>
              </a:rPr>
              <a:t>진행·이슈·변경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24928" y="1609344"/>
            <a:ext cx="822960" cy="475488"/>
          </a:xfrm>
          <a:prstGeom prst="rect">
            <a:avLst/>
          </a:prstGeom>
          <a:solidFill>
            <a:srgbClr val="DB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61504" y="1609344"/>
            <a:ext cx="749808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1E2761"/>
                </a:solidFill>
                <a:latin typeface="Malgun Gothic"/>
                <a:ea typeface="Malgun Gothic"/>
              </a:rPr>
              <a:t>2.4</a:t>
            </a:r>
          </a:p>
          <a:p>
            <a:pPr algn="ctr"/>
            <a:r>
              <a:rPr sz="700" b="0">
                <a:solidFill>
                  <a:srgbClr val="5B6472"/>
                </a:solidFill>
                <a:latin typeface="Malgun Gothic"/>
                <a:ea typeface="Malgun Gothic"/>
              </a:rPr>
              <a:t>중간·제출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93608" y="1609344"/>
            <a:ext cx="822960" cy="475488"/>
          </a:xfrm>
          <a:prstGeom prst="rect">
            <a:avLst/>
          </a:prstGeom>
          <a:solidFill>
            <a:srgbClr val="DC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330183" y="1609344"/>
            <a:ext cx="749808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1E2761"/>
                </a:solidFill>
                <a:latin typeface="Malgun Gothic"/>
                <a:ea typeface="Malgun Gothic"/>
              </a:rPr>
              <a:t>3.1</a:t>
            </a:r>
          </a:p>
          <a:p>
            <a:pPr algn="ctr"/>
            <a:r>
              <a:rPr sz="700" b="0">
                <a:solidFill>
                  <a:srgbClr val="5B6472"/>
                </a:solidFill>
                <a:latin typeface="Malgun Gothic"/>
                <a:ea typeface="Malgun Gothic"/>
              </a:rPr>
              <a:t>평가·판정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62288" y="1609344"/>
            <a:ext cx="822960" cy="475488"/>
          </a:xfrm>
          <a:prstGeom prst="rect">
            <a:avLst/>
          </a:prstGeom>
          <a:solidFill>
            <a:srgbClr val="DC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198863" y="1609344"/>
            <a:ext cx="749808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1E2761"/>
                </a:solidFill>
                <a:latin typeface="Malgun Gothic"/>
                <a:ea typeface="Malgun Gothic"/>
              </a:rPr>
              <a:t>3.2</a:t>
            </a:r>
          </a:p>
          <a:p>
            <a:pPr algn="ctr"/>
            <a:r>
              <a:rPr sz="700" b="0">
                <a:solidFill>
                  <a:srgbClr val="5B6472"/>
                </a:solidFill>
                <a:latin typeface="Malgun Gothic"/>
                <a:ea typeface="Malgun Gothic"/>
              </a:rPr>
              <a:t>Pilot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30968" y="1609344"/>
            <a:ext cx="822960" cy="475488"/>
          </a:xfrm>
          <a:prstGeom prst="rect">
            <a:avLst/>
          </a:prstGeom>
          <a:solidFill>
            <a:srgbClr val="DC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067544" y="1609344"/>
            <a:ext cx="749808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1E2761"/>
                </a:solidFill>
                <a:latin typeface="Malgun Gothic"/>
                <a:ea typeface="Malgun Gothic"/>
              </a:rPr>
              <a:t>3.3</a:t>
            </a:r>
          </a:p>
          <a:p>
            <a:pPr algn="ctr"/>
            <a:r>
              <a:rPr sz="700" b="0">
                <a:solidFill>
                  <a:srgbClr val="5B6472"/>
                </a:solidFill>
                <a:latin typeface="Malgun Gothic"/>
                <a:ea typeface="Malgun Gothic"/>
              </a:rPr>
              <a:t>인계·종료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899648" y="1609344"/>
            <a:ext cx="822960" cy="475488"/>
          </a:xfrm>
          <a:prstGeom prst="rect">
            <a:avLst/>
          </a:prstGeom>
          <a:solidFill>
            <a:srgbClr val="DC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936224" y="1609344"/>
            <a:ext cx="749808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1E2761"/>
                </a:solidFill>
                <a:latin typeface="Malgun Gothic"/>
                <a:ea typeface="Malgun Gothic"/>
              </a:rPr>
              <a:t>3.4</a:t>
            </a:r>
          </a:p>
          <a:p>
            <a:pPr algn="ctr"/>
            <a:r>
              <a:rPr sz="700" b="0">
                <a:solidFill>
                  <a:srgbClr val="5B6472"/>
                </a:solidFill>
                <a:latin typeface="Malgun Gothic"/>
                <a:ea typeface="Malgun Gothic"/>
              </a:rPr>
              <a:t>표준·확대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" y="2157984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5488" y="2157984"/>
            <a:ext cx="45720" cy="7498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76072" y="2203703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1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Gap·자원 계획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5488" y="2971800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75488" y="2971800"/>
            <a:ext cx="45720" cy="7498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76072" y="3017520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2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Workspace 구성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44168" y="2157984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344168" y="2157984"/>
            <a:ext cx="45720" cy="7498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444752" y="2203703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3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사내 자원 연결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44168" y="2971800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344168" y="2971800"/>
            <a:ext cx="45720" cy="7498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444752" y="3017520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4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E2E 검증 · G0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12848" y="2157984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2212848" y="2157984"/>
            <a:ext cx="45720" cy="7498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313432" y="2203703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5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범위·문제 정의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12848" y="2971800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212848" y="2971800"/>
            <a:ext cx="45720" cy="7498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313432" y="3017520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6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Use Case·I/O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12848" y="3785615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2212848" y="3785615"/>
            <a:ext cx="45720" cy="7498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313432" y="3831335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7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KPI·합격 기준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81528" y="2157984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081528" y="2157984"/>
            <a:ext cx="45720" cy="74980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182112" y="2203703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8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RACI 책임 경계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81528" y="2971800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3081528" y="2971800"/>
            <a:ext cx="45720" cy="7498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3182112" y="3017520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9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소통·승인 체계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081528" y="3785615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3081528" y="3785615"/>
            <a:ext cx="45720" cy="74980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3182112" y="3831335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10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협약 체결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950208" y="2157984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3950208" y="2157984"/>
            <a:ext cx="45720" cy="7498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4050792" y="2203703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11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통합 계획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950208" y="2971800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3950208" y="2971800"/>
            <a:ext cx="45720" cy="7498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4050792" y="3017520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12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데이터 제공 계획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950208" y="3785615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3950208" y="3785615"/>
            <a:ext cx="45720" cy="7498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4050792" y="3831335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13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I/O 규격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50208" y="4599431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3950208" y="4599431"/>
            <a:ext cx="45720" cy="7498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4050792" y="4645151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14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Kick-off · G1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818888" y="2157984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4818888" y="2157984"/>
            <a:ext cx="45720" cy="749808"/>
          </a:xfrm>
          <a:prstGeom prst="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4919472" y="2203703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15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개발계획 접수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18888" y="2971800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4818888" y="2971800"/>
            <a:ext cx="45720" cy="7498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4919472" y="3017520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16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통합 일정 정렬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87568" y="2157984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5687568" y="2157984"/>
            <a:ext cx="45720" cy="7498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5788152" y="2203703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17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Input 제공 추적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87568" y="2971800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5687568" y="2971800"/>
            <a:ext cx="45720" cy="7498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5788152" y="3017520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18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인프라 지원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556248" y="2157984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6556248" y="2157984"/>
            <a:ext cx="45720" cy="7498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6656832" y="2203703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19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진행현황 점검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556248" y="2971800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6556248" y="2971800"/>
            <a:ext cx="45720" cy="7498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656832" y="3017520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20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RAID·Action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556248" y="3785615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6556248" y="3785615"/>
            <a:ext cx="45720" cy="7498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6656832" y="3831335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21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결정·변경 관리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424928" y="2157984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7424928" y="2157984"/>
            <a:ext cx="45720" cy="74980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7525512" y="2203703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22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중간 Review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424928" y="2971800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7424928" y="2971800"/>
            <a:ext cx="45720" cy="749808"/>
          </a:xfrm>
          <a:prstGeom prst="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7525512" y="3017520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23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Candidate 제출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424928" y="3785615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7424928" y="3785615"/>
            <a:ext cx="45720" cy="7498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7525512" y="3831335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24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평가 준비 점검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424928" y="4599431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7424928" y="4599431"/>
            <a:ext cx="45720" cy="7498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7525512" y="4645151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25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평가 인계 · G2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293608" y="2157984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8293608" y="2157984"/>
            <a:ext cx="45720" cy="7498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8394192" y="2203703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26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평가 계획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293608" y="2971800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8293608" y="2971800"/>
            <a:ext cx="45720" cy="7498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8394192" y="3017520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27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평가결과 종합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293608" y="3785615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8293608" y="3785615"/>
            <a:ext cx="45720" cy="7498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8394192" y="3831335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28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판정 · G3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62288" y="2157984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9162288" y="2157984"/>
            <a:ext cx="45720" cy="7498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9262872" y="2203703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29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Pilot 계획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162288" y="2971800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9162288" y="2971800"/>
            <a:ext cx="45720" cy="7498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9262872" y="3017520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30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Pilot 결과 종합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162288" y="3785615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9162288" y="3785615"/>
            <a:ext cx="45720" cy="7498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9262872" y="3831335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31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Go/No-Go · G4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030968" y="2157984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10030968" y="2157984"/>
            <a:ext cx="45720" cy="74980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10131552" y="2203703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32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최종 인계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030968" y="2971800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10030968" y="2971800"/>
            <a:ext cx="45720" cy="7498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10131552" y="3017520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33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종료 처리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899648" y="2157984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10899648" y="2157984"/>
            <a:ext cx="45720" cy="7498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11000232" y="2203703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34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표준 개선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0899648" y="2971800"/>
            <a:ext cx="822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10899648" y="2971800"/>
            <a:ext cx="45720" cy="74980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11000232" y="3017520"/>
            <a:ext cx="67665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r>
              <a:rPr sz="850" b="1">
                <a:solidFill>
                  <a:srgbClr val="8A5A10"/>
                </a:solidFill>
                <a:latin typeface="Malgun Gothic"/>
                <a:ea typeface="Malgun Gothic"/>
              </a:rPr>
              <a:t>35</a:t>
            </a:r>
          </a:p>
          <a:p>
            <a:r>
              <a:rPr sz="750" b="0">
                <a:solidFill>
                  <a:srgbClr val="1F2937"/>
                </a:solidFill>
                <a:latin typeface="Malgun Gothic"/>
                <a:ea typeface="Malgun Gothic"/>
              </a:rPr>
              <a:t>확대 승인 · G5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75488" y="5650992"/>
            <a:ext cx="822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>
                <a:solidFill>
                  <a:srgbClr val="1E2761"/>
                </a:solidFill>
                <a:latin typeface="Malgun Gothic"/>
                <a:ea typeface="Malgun Gothic"/>
              </a:rPr>
              <a:t>Status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234440" y="5678424"/>
            <a:ext cx="219456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1508760" y="5650992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진행전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194560" y="5678424"/>
            <a:ext cx="219456" cy="219456"/>
          </a:xfrm>
          <a:prstGeom prst="rect">
            <a:avLst/>
          </a:prstGeom>
          <a:solidFill>
            <a:srgbClr val="FFE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2468880" y="5650992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진행중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154680" y="5678424"/>
            <a:ext cx="219456" cy="219456"/>
          </a:xfrm>
          <a:prstGeom prst="rect">
            <a:avLst/>
          </a:prstGeom>
          <a:solidFill>
            <a:srgbClr val="C6E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3429000" y="5650992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완료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114800" y="5678424"/>
            <a:ext cx="219456" cy="219456"/>
          </a:xfrm>
          <a:prstGeom prst="rect">
            <a:avLst/>
          </a:prstGeom>
          <a:solidFill>
            <a:srgbClr val="FFC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4389120" y="5650992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보류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5394960" y="565099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>
                <a:solidFill>
                  <a:srgbClr val="1E2761"/>
                </a:solidFill>
                <a:latin typeface="Malgun Gothic"/>
                <a:ea typeface="Malgun Gothic"/>
              </a:rPr>
              <a:t>주관 (좌측 바)</a:t>
            </a:r>
          </a:p>
        </p:txBody>
      </p:sp>
      <p:sp>
        <p:nvSpPr>
          <p:cNvPr id="153" name="Oval 152"/>
          <p:cNvSpPr/>
          <p:nvPr/>
        </p:nvSpPr>
        <p:spPr>
          <a:xfrm>
            <a:off x="6537960" y="5715000"/>
            <a:ext cx="146304" cy="14630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6739128" y="5650992"/>
            <a:ext cx="1051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사내 개발부서</a:t>
            </a:r>
          </a:p>
        </p:txBody>
      </p:sp>
      <p:sp>
        <p:nvSpPr>
          <p:cNvPr id="155" name="Oval 154"/>
          <p:cNvSpPr/>
          <p:nvPr/>
        </p:nvSpPr>
        <p:spPr>
          <a:xfrm>
            <a:off x="8001000" y="5715000"/>
            <a:ext cx="146304" cy="14630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8202168" y="5650992"/>
            <a:ext cx="1371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DSEP 인프라 담당자</a:t>
            </a:r>
          </a:p>
        </p:txBody>
      </p:sp>
      <p:sp>
        <p:nvSpPr>
          <p:cNvPr id="157" name="Oval 156"/>
          <p:cNvSpPr/>
          <p:nvPr/>
        </p:nvSpPr>
        <p:spPr>
          <a:xfrm>
            <a:off x="9921240" y="5715000"/>
            <a:ext cx="146304" cy="146304"/>
          </a:xfrm>
          <a:prstGeom prst="ellipse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10122408" y="5650992"/>
            <a:ext cx="5943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설비사</a:t>
            </a:r>
          </a:p>
        </p:txBody>
      </p:sp>
      <p:sp>
        <p:nvSpPr>
          <p:cNvPr id="159" name="Oval 158"/>
          <p:cNvSpPr/>
          <p:nvPr/>
        </p:nvSpPr>
        <p:spPr>
          <a:xfrm>
            <a:off x="10927080" y="5715000"/>
            <a:ext cx="146304" cy="14630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11128248" y="5650992"/>
            <a:ext cx="5486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공동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75488" y="6016752"/>
            <a:ext cx="112471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5B6472"/>
                </a:solidFill>
                <a:latin typeface="Malgun Gothic"/>
                <a:ea typeface="Malgun Gothic"/>
              </a:rPr>
              <a:t>사용법: PPT에서 카드 채우기 색만 변경(진행중=노랑, 완료=초록, 보류=빨강)하면 이 한 장으로 35개 항목의 진행 현황을 Heat Map처럼 공유할 수 있습니다.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DSEP  ·  Project Board 설명서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881360" y="6473952"/>
            <a:ext cx="804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/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0E8F84"/>
                </a:solidFill>
                <a:latin typeface="Malgun Gothic"/>
                <a:ea typeface="Malgun Gothic"/>
              </a:rPr>
              <a:t>PROJECT BOARD  ·  PHASE 0 ITEMS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1E2761"/>
                </a:solidFill>
                <a:latin typeface="Malgun Gothic"/>
                <a:ea typeface="Malgun Gothic"/>
              </a:rPr>
              <a:t>Phase 0. Pre-Infrastructure Setup — 항목 1~4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17320"/>
            <a:ext cx="658368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5B6472"/>
                </a:solidFill>
                <a:latin typeface="Malgun Gothic"/>
                <a:ea typeface="Malgun Gothic"/>
              </a:rPr>
              <a:t>산출물 (Deliverable)  ·  Milestone  /  Key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417320"/>
            <a:ext cx="9144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5B6472"/>
                </a:solidFill>
                <a:latin typeface="Malgun Gothic"/>
                <a:ea typeface="Malgun Gothic"/>
              </a:rPr>
              <a:t>문서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0" y="1417320"/>
            <a:ext cx="2907792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5B6472"/>
                </a:solidFill>
                <a:latin typeface="Malgun Gothic"/>
                <a:ea typeface="Malgun Gothic"/>
              </a:rPr>
              <a:t>Owner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64008" cy="749808"/>
          </a:xfrm>
          <a:prstGeom prst="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" y="1783080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183794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DSEP Gap &amp; Resource Plan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0.1 DSEP 환경 Gap 및 자원 구성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기존 DSEP 환경의 추가 필요사항(서버, Storage, 계정, 보안 등)을 점검하고 반영 계획을 확정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783080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783080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DSEP 인프라 담당자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06039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2606039"/>
            <a:ext cx="64008" cy="749808"/>
          </a:xfrm>
          <a:prstGeom prst="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" y="2606039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266090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Workspace Provisioning &amp; Onboarding Checklist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0.1 DSEP 환경 Gap 및 자원 구성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협력사별 Private Zone, VM/Server, 자원 Quota 및 접근권한을 구성하고 설비사 Onboarding과 접속 검증을 완료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606039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2606039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DSEP 인프라 담당자+보안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428999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3428999"/>
            <a:ext cx="64008" cy="749808"/>
          </a:xfrm>
          <a:prstGeom prst="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" y="3428999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348386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Internal Resource Connectivity Plan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0.2 사내 자원 및 I/O 운영 연결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사내 데이터·컴퓨팅 자원 연결 필요 여부와 승인, 보안 및 운영 방식을 확정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428999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3428999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DSEP 인프라 담당자+사내 IT·보안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59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4251959"/>
            <a:ext cx="64008" cy="749808"/>
          </a:xfrm>
          <a:prstGeom prst="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" y="4251959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8720" y="430682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End-to-End Infra Readiness &amp; G0 Record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0.2 사내 자원 및 I/O 운영 연결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Input 전달→DSEP 처리→Output 회수와 반입·반출·장애지원 절차를 시험하고 인프라 착수를 승인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4251959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4251959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DSEP 인프라 담당자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DSEP  ·  Project Board 설명서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881360" y="6473952"/>
            <a:ext cx="804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/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0E8F84"/>
                </a:solidFill>
                <a:latin typeface="Malgun Gothic"/>
                <a:ea typeface="Malgun Gothic"/>
              </a:rPr>
              <a:t>PROJECT BOARD  ·  PHASE 1 ITEMS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1E2761"/>
                </a:solidFill>
                <a:latin typeface="Malgun Gothic"/>
                <a:ea typeface="Malgun Gothic"/>
              </a:rPr>
              <a:t>Phase 1. Initiation &amp; Readiness (1/2) — 항목 5~9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17320"/>
            <a:ext cx="658368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5B6472"/>
                </a:solidFill>
                <a:latin typeface="Malgun Gothic"/>
                <a:ea typeface="Malgun Gothic"/>
              </a:rPr>
              <a:t>산출물 (Deliverable)  ·  Milestone  /  Key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417320"/>
            <a:ext cx="9144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5B6472"/>
                </a:solidFill>
                <a:latin typeface="Malgun Gothic"/>
                <a:ea typeface="Malgun Gothic"/>
              </a:rPr>
              <a:t>문서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0" y="1417320"/>
            <a:ext cx="2907792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5B6472"/>
                </a:solidFill>
                <a:latin typeface="Malgun Gothic"/>
                <a:ea typeface="Malgun Gothic"/>
              </a:rPr>
              <a:t>Owner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64008" cy="749808"/>
          </a:xfrm>
          <a:prstGeom prst="rect">
            <a:avLst/>
          </a:prstGeom>
          <a:solidFill>
            <a:srgbClr val="3D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" y="1783080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183794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Scope &amp; Problem Definition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1.1 Use Case &amp; Scope Definition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Target 제품·Module·Equipment, 해결할 업무 문제, 적용 범위 및 제외 범위를 확정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783080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783080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사내 개발부서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06039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2606039"/>
            <a:ext cx="64008" cy="749808"/>
          </a:xfrm>
          <a:prstGeom prst="rect">
            <a:avLst/>
          </a:prstGeom>
          <a:solidFill>
            <a:srgbClr val="3D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" y="2606039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266090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AI Use Case &amp; I/O Definition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1.1 Use Case &amp; Scope Definition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사내 개발부서가 제공할 Input, DSEP 모델이 반환할 Output 및 업무 활용 방식을 정의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606039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①②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2606039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사내 개발부서+설비사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428999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3428999"/>
            <a:ext cx="64008" cy="749808"/>
          </a:xfrm>
          <a:prstGeom prst="rect">
            <a:avLst/>
          </a:prstGeom>
          <a:solidFill>
            <a:srgbClr val="3D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" y="3428999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348386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KPI &amp; Acceptance Criteria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1.1 Use Case &amp; Scope Definition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기술·업무 KPI, Baseline 및 결과 Acceptance 기준을 정의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428999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3428999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사내 개발부서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59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4251959"/>
            <a:ext cx="64008" cy="749808"/>
          </a:xfrm>
          <a:prstGeom prst="rect">
            <a:avLst/>
          </a:prstGeom>
          <a:solidFill>
            <a:srgbClr val="3D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" y="4251959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8720" y="430682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RACI &amp; Responsibility Boundary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1.2 Collaboration &amp; R&amp;R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DSEP 인프라 담당자, 설비사, 사내 개발부서의 역할과 책임 경계를 확정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4251959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4251959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공동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074919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2920" y="5074919"/>
            <a:ext cx="64008" cy="749808"/>
          </a:xfrm>
          <a:prstGeom prst="rect">
            <a:avLst/>
          </a:prstGeom>
          <a:solidFill>
            <a:srgbClr val="3D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" y="5074919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88720" y="512978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Governance &amp; Communication Workflow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1.2 Collaboration &amp; R&amp;R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업무 요청·질의·Feedback, 의사결정, 승인 및 Escalation 경로를 정의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0" y="5074919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5074919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DSEP 인프라 담당자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DSEP  ·  Project Board 설명서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881360" y="6473952"/>
            <a:ext cx="804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/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0E8F84"/>
                </a:solidFill>
                <a:latin typeface="Malgun Gothic"/>
                <a:ea typeface="Malgun Gothic"/>
              </a:rPr>
              <a:t>PROJECT BOARD  ·  PHASE 1 ITEMS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1E2761"/>
                </a:solidFill>
                <a:latin typeface="Malgun Gothic"/>
                <a:ea typeface="Malgun Gothic"/>
              </a:rPr>
              <a:t>Phase 1. Initiation &amp; Readiness (2/2) — 항목 10~14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17320"/>
            <a:ext cx="658368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5B6472"/>
                </a:solidFill>
                <a:latin typeface="Malgun Gothic"/>
                <a:ea typeface="Malgun Gothic"/>
              </a:rPr>
              <a:t>산출물 (Deliverable)  ·  Milestone  /  Key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417320"/>
            <a:ext cx="9144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5B6472"/>
                </a:solidFill>
                <a:latin typeface="Malgun Gothic"/>
                <a:ea typeface="Malgun Gothic"/>
              </a:rPr>
              <a:t>문서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0" y="1417320"/>
            <a:ext cx="2907792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5B6472"/>
                </a:solidFill>
                <a:latin typeface="Malgun Gothic"/>
                <a:ea typeface="Malgun Gothic"/>
              </a:rPr>
              <a:t>Owner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64008" cy="749808"/>
          </a:xfrm>
          <a:prstGeom prst="rect">
            <a:avLst/>
          </a:prstGeom>
          <a:solidFill>
            <a:srgbClr val="3D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" y="1783080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183794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Collaboration Agreement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1.2 Collaboration &amp; R&amp;R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데이터·모델·산출물 교환, 보안, IP·사용권 및 성능 미달 시 Rework 원칙을 확정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783080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783080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공동(구매·법무·보안)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06039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2606039"/>
            <a:ext cx="64008" cy="749808"/>
          </a:xfrm>
          <a:prstGeom prst="rect">
            <a:avLst/>
          </a:prstGeom>
          <a:solidFill>
            <a:srgbClr val="3D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" y="2606039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11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266090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Integrated Project Plan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1.3 Integrated Plan &amp; Data Readiness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Milestone, 주요 산출물, 보고 주기, 담당자 및 Stage Gate를 포함한 통합 계획을 확정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606039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2606039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DSEP 인프라 담당자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428999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3428999"/>
            <a:ext cx="64008" cy="749808"/>
          </a:xfrm>
          <a:prstGeom prst="rect">
            <a:avLst/>
          </a:prstGeom>
          <a:solidFill>
            <a:srgbClr val="3D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" y="3428999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348386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Data Provision Plan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1.3 Integrated Plan &amp; Data Readiness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필요 데이터 Source·Owner·승인상태와 제공 일정을 정리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428999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3428999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사내 개발부서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59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4251959"/>
            <a:ext cx="64008" cy="749808"/>
          </a:xfrm>
          <a:prstGeom prst="rect">
            <a:avLst/>
          </a:prstGeom>
          <a:solidFill>
            <a:srgbClr val="3D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" y="4251959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8720" y="430682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I/O Specification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1.3 Integrated Plan &amp; Data Readiness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Input·Output Schema, 전달 방식, Version 및 변경 관리 기준을 확정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4251959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4251959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사내 개발부서+설비사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074919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2920" y="5074919"/>
            <a:ext cx="64008" cy="749808"/>
          </a:xfrm>
          <a:prstGeom prst="rect">
            <a:avLst/>
          </a:prstGeom>
          <a:solidFill>
            <a:srgbClr val="3D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" y="5074919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88720" y="512978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Kick-off Minutes &amp; G1 Record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1.3 Integrated Plan &amp; Data Readiness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범위·역할·데이터·인프라 준비상태를 종합 검토하고 개발 착수를 승인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0" y="5074919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①②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5074919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DSEP 인프라 담당자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DSEP  ·  Project Board 설명서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881360" y="6473952"/>
            <a:ext cx="804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/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0E8F84"/>
                </a:solidFill>
                <a:latin typeface="Malgun Gothic"/>
                <a:ea typeface="Malgun Gothic"/>
              </a:rPr>
              <a:t>PROJECT BOARD  ·  PHASE 2 ITEMS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1E2761"/>
                </a:solidFill>
                <a:latin typeface="Malgun Gothic"/>
                <a:ea typeface="Malgun Gothic"/>
              </a:rPr>
              <a:t>Phase 2. Development Coordination &amp; Progress Management (1/2) — 항목 15~20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17320"/>
            <a:ext cx="658368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5B6472"/>
                </a:solidFill>
                <a:latin typeface="Malgun Gothic"/>
                <a:ea typeface="Malgun Gothic"/>
              </a:rPr>
              <a:t>산출물 (Deliverable)  ·  Milestone  /  Key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417320"/>
            <a:ext cx="9144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5B6472"/>
                </a:solidFill>
                <a:latin typeface="Malgun Gothic"/>
                <a:ea typeface="Malgun Gothic"/>
              </a:rPr>
              <a:t>문서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0" y="1417320"/>
            <a:ext cx="2907792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5B6472"/>
                </a:solidFill>
                <a:latin typeface="Malgun Gothic"/>
                <a:ea typeface="Malgun Gothic"/>
              </a:rPr>
              <a:t>Owner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1183112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64008" cy="6858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" y="1783080"/>
            <a:ext cx="4572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1837943"/>
            <a:ext cx="6492240" cy="5760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Vendor Development Plan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2.1 Development Plan &amp; Coordination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설비사가 개발 일정, 주요 Milestone 및 제출 예정 산출물이 포함된 개발계획을 제출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783080"/>
            <a:ext cx="9144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783080"/>
            <a:ext cx="288036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설비사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42032"/>
            <a:ext cx="11183112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2542032"/>
            <a:ext cx="64008" cy="6858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" y="2542032"/>
            <a:ext cx="4572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2596896"/>
            <a:ext cx="6492240" cy="5760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Integrated Working Schedule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2.1 Development Plan &amp; Coordination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사내 개발부서의 요구사항·우선순위·검토 일정과 설비사 개발계획을 정렬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542032"/>
            <a:ext cx="9144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2542032"/>
            <a:ext cx="288036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DSEP 인프라 담당자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00984"/>
            <a:ext cx="11183112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3300984"/>
            <a:ext cx="64008" cy="6858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" y="3300984"/>
            <a:ext cx="4572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17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3355848"/>
            <a:ext cx="6492240" cy="5760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Data/Input Request &amp; Delivery Tracker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2.2 Input, Data &amp; Infra Support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데이터·Input 요청, 제공 일정, DSEP 반입 및 설비사 수신 여부를 통합 추적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300984"/>
            <a:ext cx="9144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3300984"/>
            <a:ext cx="288036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DSEP 인프라 담당자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059935"/>
            <a:ext cx="11183112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4059935"/>
            <a:ext cx="64008" cy="6858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" y="4059935"/>
            <a:ext cx="4572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18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8720" y="4114799"/>
            <a:ext cx="6492240" cy="5760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Infrastructure Support Log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2.2 Input, Data &amp; Infra Support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서버·자원·패키지·접근권한 등 인프라 지원 요청과 처리결과를 관리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4059935"/>
            <a:ext cx="9144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4059935"/>
            <a:ext cx="288036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DSEP 인프라 담당자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818888"/>
            <a:ext cx="11183112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2920" y="4818888"/>
            <a:ext cx="64008" cy="6858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" y="4818888"/>
            <a:ext cx="4572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19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88720" y="4873751"/>
            <a:ext cx="6492240" cy="5760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Progress Report &amp; Milestone Tracker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2.3 Progress, Issue &amp; Change Management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설비사 정기 진행현황과 계획 대비 Milestone·산출물 완료상태를 확인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0" y="4818888"/>
            <a:ext cx="9144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③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4818888"/>
            <a:ext cx="288036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DSEP 인프라 담당자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577840"/>
            <a:ext cx="11183112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02920" y="5577840"/>
            <a:ext cx="64008" cy="6858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1792" y="5577840"/>
            <a:ext cx="4572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88720" y="5632703"/>
            <a:ext cx="6492240" cy="5760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RAID &amp; Action Log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2.3 Progress, Issue &amp; Change Management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Risk, Assumption, Issue, Dependency 및 Action Item을 통합 관리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0" y="5577840"/>
            <a:ext cx="9144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③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78240" y="5577840"/>
            <a:ext cx="288036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DSEP 인프라 담당자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DSEP  ·  Project Board 설명서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881360" y="6473952"/>
            <a:ext cx="804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/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0E8F84"/>
                </a:solidFill>
                <a:latin typeface="Malgun Gothic"/>
                <a:ea typeface="Malgun Gothic"/>
              </a:rPr>
              <a:t>PROJECT BOARD  ·  PHASE 2 ITEMS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1E2761"/>
                </a:solidFill>
                <a:latin typeface="Malgun Gothic"/>
                <a:ea typeface="Malgun Gothic"/>
              </a:rPr>
              <a:t>Phase 2. Development Coordination &amp; Progress Management (2/2) — 항목 21~25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17320"/>
            <a:ext cx="658368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5B6472"/>
                </a:solidFill>
                <a:latin typeface="Malgun Gothic"/>
                <a:ea typeface="Malgun Gothic"/>
              </a:rPr>
              <a:t>산출물 (Deliverable)  ·  Milestone  /  Key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417320"/>
            <a:ext cx="9144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5B6472"/>
                </a:solidFill>
                <a:latin typeface="Malgun Gothic"/>
                <a:ea typeface="Malgun Gothic"/>
              </a:rPr>
              <a:t>문서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0" y="1417320"/>
            <a:ext cx="2907792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5B6472"/>
                </a:solidFill>
                <a:latin typeface="Malgun Gothic"/>
                <a:ea typeface="Malgun Gothic"/>
              </a:rPr>
              <a:t>Owner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64008" cy="7498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" y="1783080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183794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Decision &amp; Change Log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2.3 Progress, Issue &amp; Change Management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주요 의사결정, Escalation 및 범위·일정·요구사항 변경의 영향과 승인상태를 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783080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783080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DSEP 인프라 담당자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06039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2606039"/>
            <a:ext cx="64008" cy="7498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" y="2606039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22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266090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Interim Review &amp; Rework Record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2.4 Interim Review &amp; Candidate Submission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설비사 중간 결과, 사내 개발부서 Feedback 및 보완조치 진행상태를 관리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606039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2606039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공동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428999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3428999"/>
            <a:ext cx="64008" cy="7498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" y="3428999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348386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Candidate Submission Package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2.4 Interim Review &amp; Candidate Submission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설비사가 평가 대상 Model Version, 결과, 사용방법 및 Known Limitation을 포함한 Candidate를 제출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428999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3428999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설비사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59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4251959"/>
            <a:ext cx="64008" cy="7498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" y="4251959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24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8720" y="430682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Submission &amp; Evaluation Readiness Checklist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2.4 Interim Review &amp; Candidate Submission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제출 Package의 필수항목과 Input→Output 평가 경로의 준비상태를 확인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4251959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4251959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DSEP 인프라 담당자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074919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2920" y="5074919"/>
            <a:ext cx="64008" cy="7498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" y="5074919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25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88720" y="512978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G2 Record &amp; Evaluation Handover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2.4 Interim Review &amp; Candidate Submission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Candidate 제출 완료와 사내 평가 착수 가능 여부를 검토하고 평가부서에 인계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0" y="5074919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④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5074919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사내 개발부서+DSEP 인프라 담당자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DSEP  ·  Project Board 설명서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881360" y="6473952"/>
            <a:ext cx="804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/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0E8F84"/>
                </a:solidFill>
                <a:latin typeface="Malgun Gothic"/>
                <a:ea typeface="Malgun Gothic"/>
              </a:rPr>
              <a:t>PROJECT BOARD  ·  PHASE 3 ITEMS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1E2761"/>
                </a:solidFill>
                <a:latin typeface="Malgun Gothic"/>
                <a:ea typeface="Malgun Gothic"/>
              </a:rPr>
              <a:t>Phase 3. Evaluation, Pilot &amp; Closure Management (1/2) — 항목 26~30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17320"/>
            <a:ext cx="658368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5B6472"/>
                </a:solidFill>
                <a:latin typeface="Malgun Gothic"/>
                <a:ea typeface="Malgun Gothic"/>
              </a:rPr>
              <a:t>산출물 (Deliverable)  ·  Milestone  /  Key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417320"/>
            <a:ext cx="9144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5B6472"/>
                </a:solidFill>
                <a:latin typeface="Malgun Gothic"/>
                <a:ea typeface="Malgun Gothic"/>
              </a:rPr>
              <a:t>문서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0" y="1417320"/>
            <a:ext cx="2907792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5B6472"/>
                </a:solidFill>
                <a:latin typeface="Malgun Gothic"/>
                <a:ea typeface="Malgun Gothic"/>
              </a:rPr>
              <a:t>Owner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64008" cy="749808"/>
          </a:xfrm>
          <a:prstGeom prst="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" y="1783080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183794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Evaluation Plan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3.1 Acceptance Evaluation Management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평가 대상·Dataset·기간·참여자·증빙 양식 및 판정 절차를 확정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783080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783080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사내 개발부서+DSEP 인프라 담당자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06039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2606039"/>
            <a:ext cx="64008" cy="749808"/>
          </a:xfrm>
          <a:prstGeom prst="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" y="2606039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266090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Evaluation Scorecard &amp; Review Report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3.1 Acceptance Evaluation Management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설비사 자체 평가와 사내 Acceptance 평가 결과를 수집·비교하고 성능·업무효과·안정성·잔여 Risk를 종합 검토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606039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2606039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사내 개발부서+설비사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428999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3428999"/>
            <a:ext cx="64008" cy="749808"/>
          </a:xfrm>
          <a:prstGeom prst="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" y="3428999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28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348386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Acceptance Decision &amp; Rework Tracker (G3 Record)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3.1 Acceptance Evaluation Management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Pass, Conditional Pass, Rework 또는 Fail을 판정하고 보완·재평가 일정을 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428999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3428999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사내 개발부서+DSEP 인프라 담당자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59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4251959"/>
            <a:ext cx="64008" cy="749808"/>
          </a:xfrm>
          <a:prstGeom prst="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" y="4251959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29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8720" y="430682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Pilot Plan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3.2 Pilot &amp; Go/No-Go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Pilot 대상, 기간, 운영조건, 표본 수, 성공기준 및 Input·Output 운영절차를 확정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4251959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4251959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사내 개발부서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074919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2920" y="5074919"/>
            <a:ext cx="64008" cy="749808"/>
          </a:xfrm>
          <a:prstGeom prst="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" y="5074919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30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88720" y="512978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Pilot Result Report (KPI·VOC 종합)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3.2 Pilot &amp; Go/No-Go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Pilot 결과와 실제 결과 비교자료, 사용자 VOC, KPI Baseline 대비 효과 및 운영 Risk를 수집·종합 평가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0" y="5074919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5074919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사내 개발부서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DSEP  ·  Project Board 설명서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881360" y="6473952"/>
            <a:ext cx="804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/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0E8F84"/>
                </a:solidFill>
                <a:latin typeface="Malgun Gothic"/>
                <a:ea typeface="Malgun Gothic"/>
              </a:rPr>
              <a:t>PROJECT BOARD  ·  PHASE 3 ITEMS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1E2761"/>
                </a:solidFill>
                <a:latin typeface="Malgun Gothic"/>
                <a:ea typeface="Malgun Gothic"/>
              </a:rPr>
              <a:t>Phase 3. Evaluation, Pilot &amp; Closure Management (2/2) — 항목 31~35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17320"/>
            <a:ext cx="658368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5B6472"/>
                </a:solidFill>
                <a:latin typeface="Malgun Gothic"/>
                <a:ea typeface="Malgun Gothic"/>
              </a:rPr>
              <a:t>산출물 (Deliverable)  ·  Milestone  /  Key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417320"/>
            <a:ext cx="9144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5B6472"/>
                </a:solidFill>
                <a:latin typeface="Malgun Gothic"/>
                <a:ea typeface="Malgun Gothic"/>
              </a:rPr>
              <a:t>문서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0" y="1417320"/>
            <a:ext cx="2907792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5B6472"/>
                </a:solidFill>
                <a:latin typeface="Malgun Gothic"/>
                <a:ea typeface="Malgun Gothic"/>
              </a:rPr>
              <a:t>Owner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64008" cy="749808"/>
          </a:xfrm>
          <a:prstGeom prst="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" y="1783080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183794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Go/No-Go Decision &amp; G4 Record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3.2 Pilot &amp; Go/No-Go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Go, Conditional Go, Rework 또는 Stop을 결정하고 Pilot Acceptance를 승인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783080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783080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사내 개발부서+DSEP 인프라 담당자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06039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2606039"/>
            <a:ext cx="64008" cy="749808"/>
          </a:xfrm>
          <a:prstGeom prst="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" y="2606039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32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266090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Final Handover Package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3.3 Handover &amp; Closure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최종 Asset·Version·사용방법·운영지원 절차와 미해결 이슈를 인계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606039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2606039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공동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428999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3428999"/>
            <a:ext cx="64008" cy="749808"/>
          </a:xfrm>
          <a:prstGeom prst="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" y="3428999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33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348386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Closure Record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3.3 Handover &amp; Closure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사용권, 보존·삭제 대상, 접근권한 회수 및 프로젝트 종료 승인을 완료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428999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3428999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DSEP 인프라 담당자+법무·보안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59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4251959"/>
            <a:ext cx="64008" cy="749808"/>
          </a:xfrm>
          <a:prstGeom prst="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" y="4251959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34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8720" y="430682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Standard Improvement Action List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3.4 Standardization &amp; Expansion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Lessons Learned를 반영해 협력사 Onboarding, 진행관리 및 평가 Template를 개선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4251959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4251959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DSEP 인프라 담당자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074919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AEB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2920" y="5074919"/>
            <a:ext cx="64008" cy="749808"/>
          </a:xfrm>
          <a:prstGeom prst="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" y="5074919"/>
            <a:ext cx="4572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8A5A10"/>
                </a:solidFill>
                <a:latin typeface="Malgun Gothic"/>
                <a:ea typeface="Malgun Gothic"/>
              </a:rPr>
              <a:t>35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88720" y="5129783"/>
            <a:ext cx="64922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Malgun Gothic"/>
                <a:ea typeface="Malgun Gothic"/>
              </a:rPr>
              <a:t>Expansion Roadmap &amp; G5 Record</a:t>
            </a:r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    ·  3.4 Standardization &amp; Expansion</a:t>
            </a:r>
          </a:p>
          <a:p>
            <a:r>
              <a:rPr sz="900" b="0">
                <a:solidFill>
                  <a:srgbClr val="5B6472"/>
                </a:solidFill>
                <a:latin typeface="Malgun Gothic"/>
                <a:ea typeface="Malgun Gothic"/>
              </a:rPr>
              <a:t>확대 후보, 추가 인프라 용량·비용, 추진 Roadmap 및 Scale-out 승인안을 수립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0" y="5074919"/>
            <a:ext cx="91440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8A5A10"/>
                </a:solidFill>
                <a:latin typeface="Malgun Gothic"/>
                <a:ea typeface="Malgun Gothic"/>
              </a:rPr>
              <a:t>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5074919"/>
            <a:ext cx="288036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Malgun Gothic"/>
                <a:ea typeface="Malgun Gothic"/>
              </a:rPr>
              <a:t>공동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DSEP  ·  Project Board 설명서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881360" y="6473952"/>
            <a:ext cx="804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/>
            <a:r>
              <a:rPr sz="850" b="0">
                <a:solidFill>
                  <a:srgbClr val="5B6472"/>
                </a:solidFill>
                <a:latin typeface="Malgun Gothic"/>
                <a:ea typeface="Malgun Gothic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1627</Words>
  <Application>Microsoft Office PowerPoint</Application>
  <PresentationFormat>와이드스크린</PresentationFormat>
  <Paragraphs>339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px0nq</cp:lastModifiedBy>
  <cp:revision>2</cp:revision>
  <dcterms:created xsi:type="dcterms:W3CDTF">2013-01-27T09:14:16Z</dcterms:created>
  <dcterms:modified xsi:type="dcterms:W3CDTF">2026-08-08T04:33:33Z</dcterms:modified>
  <cp:category/>
</cp:coreProperties>
</file>